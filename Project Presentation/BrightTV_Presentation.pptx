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Gender Split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3A1-48B0-9624-EAC8280795AF}"/>
              </c:ext>
            </c:extLst>
          </c:dPt>
          <c:dPt>
            <c:idx val="1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3A1-48B0-9624-EAC8280795A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3918</c:v>
                </c:pt>
                <c:pt idx="1">
                  <c:v>537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A1-48B0-9624-EAC8280795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Users by Province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16B-43D8-897C-407838A55AA8}"/>
              </c:ext>
            </c:extLst>
          </c:dPt>
          <c:dPt>
            <c:idx val="1"/>
            <c:bubble3D val="0"/>
            <c:spPr>
              <a:solidFill>
                <a:srgbClr val="1B99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16B-43D8-897C-407838A55AA8}"/>
              </c:ext>
            </c:extLst>
          </c:dPt>
          <c:dPt>
            <c:idx val="2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16B-43D8-897C-407838A55AA8}"/>
              </c:ext>
            </c:extLst>
          </c:dPt>
          <c:dPt>
            <c:idx val="3"/>
            <c:bubble3D val="0"/>
            <c:spPr>
              <a:solidFill>
                <a:srgbClr val="3341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16B-43D8-897C-407838A55AA8}"/>
              </c:ext>
            </c:extLst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16B-43D8-897C-407838A55AA8}"/>
              </c:ext>
            </c:extLst>
          </c:dPt>
          <c:dPt>
            <c:idx val="5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16B-43D8-897C-407838A55AA8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C16B-43D8-897C-407838A55AA8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C16B-43D8-897C-407838A55AA8}"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C16B-43D8-897C-407838A55AA8}"/>
                </c:ext>
              </c:extLst>
            </c:dLbl>
            <c:dLbl>
              <c:idx val="3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C16B-43D8-897C-407838A55AA8}"/>
                </c:ext>
              </c:extLst>
            </c:dLbl>
            <c:dLbl>
              <c:idx val="4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9-C16B-43D8-897C-407838A55AA8}"/>
                </c:ext>
              </c:extLst>
            </c:dLbl>
            <c:dLbl>
              <c:idx val="5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B-C16B-43D8-897C-407838A55AA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Gauteng</c:v>
                </c:pt>
                <c:pt idx="1">
                  <c:v>Western Cape</c:v>
                </c:pt>
                <c:pt idx="2">
                  <c:v>KZN</c:v>
                </c:pt>
                <c:pt idx="3">
                  <c:v>Mpumalanga</c:v>
                </c:pt>
                <c:pt idx="4">
                  <c:v>Limpopo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1704</c:v>
                </c:pt>
                <c:pt idx="1">
                  <c:v>791</c:v>
                </c:pt>
                <c:pt idx="2">
                  <c:v>481</c:v>
                </c:pt>
                <c:pt idx="3">
                  <c:v>421</c:v>
                </c:pt>
                <c:pt idx="4">
                  <c:v>368</c:v>
                </c:pt>
                <c:pt idx="5">
                  <c:v>610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16B-43D8-897C-407838A55A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Sessions by Day of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5D4-4D33-9158-8104C962016C}"/>
              </c:ext>
            </c:extLst>
          </c:dPt>
          <c:dPt>
            <c:idx val="1"/>
            <c:invertIfNegative val="0"/>
            <c:bubble3D val="0"/>
            <c:spPr>
              <a:solidFill>
                <a:srgbClr val="1B99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5D4-4D33-9158-8104C962016C}"/>
              </c:ext>
            </c:extLst>
          </c:dPt>
          <c:dPt>
            <c:idx val="2"/>
            <c:invertIfNegative val="0"/>
            <c:bubble3D val="0"/>
            <c:spPr>
              <a:solidFill>
                <a:srgbClr val="1B99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5D4-4D33-9158-8104C962016C}"/>
              </c:ext>
            </c:extLst>
          </c:dPt>
          <c:dPt>
            <c:idx val="3"/>
            <c:invertIfNegative val="0"/>
            <c:bubble3D val="0"/>
            <c:spPr>
              <a:solidFill>
                <a:srgbClr val="1B99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5D4-4D33-9158-8104C962016C}"/>
              </c:ext>
            </c:extLst>
          </c:dPt>
          <c:dPt>
            <c:idx val="4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5D4-4D33-9158-8104C962016C}"/>
              </c:ext>
            </c:extLst>
          </c:dPt>
          <c:dPt>
            <c:idx val="5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5D4-4D33-9158-8104C962016C}"/>
              </c:ext>
            </c:extLst>
          </c:dPt>
          <c:dPt>
            <c:idx val="6"/>
            <c:invertIfNegative val="0"/>
            <c:bubble3D val="0"/>
            <c:spPr>
              <a:solidFill>
                <a:srgbClr val="1B99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5D4-4D33-9158-8104C962016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957</c:v>
                </c:pt>
                <c:pt idx="1">
                  <c:v>1322</c:v>
                </c:pt>
                <c:pt idx="2">
                  <c:v>1553</c:v>
                </c:pt>
                <c:pt idx="3">
                  <c:v>1441</c:v>
                </c:pt>
                <c:pt idx="4">
                  <c:v>1675</c:v>
                </c:pt>
                <c:pt idx="5">
                  <c:v>1633</c:v>
                </c:pt>
                <c:pt idx="6">
                  <c:v>1419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5D4-4D33-9158-8104C96201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ln w="38100" cap="flat">
              <a:solidFill>
                <a:srgbClr val="1B99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00h</c:v>
                </c:pt>
                <c:pt idx="1">
                  <c:v>01h</c:v>
                </c:pt>
                <c:pt idx="2">
                  <c:v>02h</c:v>
                </c:pt>
                <c:pt idx="3">
                  <c:v>03h</c:v>
                </c:pt>
                <c:pt idx="4">
                  <c:v>04h</c:v>
                </c:pt>
                <c:pt idx="5">
                  <c:v>05h</c:v>
                </c:pt>
                <c:pt idx="6">
                  <c:v>06h</c:v>
                </c:pt>
                <c:pt idx="7">
                  <c:v>07h</c:v>
                </c:pt>
                <c:pt idx="8">
                  <c:v>08h</c:v>
                </c:pt>
                <c:pt idx="9">
                  <c:v>09h</c:v>
                </c:pt>
                <c:pt idx="10">
                  <c:v>10h</c:v>
                </c:pt>
                <c:pt idx="11">
                  <c:v>11h</c:v>
                </c:pt>
                <c:pt idx="12">
                  <c:v>12h</c:v>
                </c:pt>
                <c:pt idx="13">
                  <c:v>13h</c:v>
                </c:pt>
                <c:pt idx="14">
                  <c:v>14h</c:v>
                </c:pt>
                <c:pt idx="15">
                  <c:v>15h</c:v>
                </c:pt>
                <c:pt idx="16">
                  <c:v>16h</c:v>
                </c:pt>
                <c:pt idx="17">
                  <c:v>17h</c:v>
                </c:pt>
                <c:pt idx="18">
                  <c:v>18h</c:v>
                </c:pt>
                <c:pt idx="19">
                  <c:v>19h</c:v>
                </c:pt>
                <c:pt idx="20">
                  <c:v>20h</c:v>
                </c:pt>
                <c:pt idx="21">
                  <c:v>21h</c:v>
                </c:pt>
                <c:pt idx="22">
                  <c:v>22h</c:v>
                </c:pt>
                <c:pt idx="23">
                  <c:v>23h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180</c:v>
                </c:pt>
                <c:pt idx="1">
                  <c:v>103</c:v>
                </c:pt>
                <c:pt idx="2">
                  <c:v>80</c:v>
                </c:pt>
                <c:pt idx="3">
                  <c:v>55</c:v>
                </c:pt>
                <c:pt idx="4">
                  <c:v>49</c:v>
                </c:pt>
                <c:pt idx="5">
                  <c:v>94</c:v>
                </c:pt>
                <c:pt idx="6">
                  <c:v>180</c:v>
                </c:pt>
                <c:pt idx="7">
                  <c:v>298</c:v>
                </c:pt>
                <c:pt idx="8">
                  <c:v>401</c:v>
                </c:pt>
                <c:pt idx="9">
                  <c:v>402</c:v>
                </c:pt>
                <c:pt idx="10">
                  <c:v>541</c:v>
                </c:pt>
                <c:pt idx="11">
                  <c:v>539</c:v>
                </c:pt>
                <c:pt idx="12">
                  <c:v>634</c:v>
                </c:pt>
                <c:pt idx="13">
                  <c:v>568</c:v>
                </c:pt>
                <c:pt idx="14">
                  <c:v>620</c:v>
                </c:pt>
                <c:pt idx="15">
                  <c:v>637</c:v>
                </c:pt>
                <c:pt idx="16">
                  <c:v>627</c:v>
                </c:pt>
                <c:pt idx="17">
                  <c:v>648</c:v>
                </c:pt>
                <c:pt idx="18">
                  <c:v>628</c:v>
                </c:pt>
                <c:pt idx="19">
                  <c:v>647</c:v>
                </c:pt>
                <c:pt idx="20">
                  <c:v>622</c:v>
                </c:pt>
                <c:pt idx="21">
                  <c:v>585</c:v>
                </c:pt>
                <c:pt idx="22">
                  <c:v>498</c:v>
                </c:pt>
                <c:pt idx="23">
                  <c:v>364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4D9-4895-97DE-DCA1BF08A3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654-48D7-8D88-080B9BA5B24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654-48D7-8D88-080B9BA5B243}"/>
              </c:ext>
            </c:extLst>
          </c:dPt>
          <c:dPt>
            <c:idx val="2"/>
            <c:invertIfNegative val="0"/>
            <c:bubble3D val="0"/>
            <c:spPr>
              <a:solidFill>
                <a:srgbClr val="1B99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654-48D7-8D88-080B9BA5B243}"/>
              </c:ext>
            </c:extLst>
          </c:dPt>
          <c:dPt>
            <c:idx val="3"/>
            <c:invertIfNegative val="0"/>
            <c:bubble3D val="0"/>
            <c:spPr>
              <a:solidFill>
                <a:srgbClr val="1B99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654-48D7-8D88-080B9BA5B243}"/>
              </c:ext>
            </c:extLst>
          </c:dPt>
          <c:dPt>
            <c:idx val="4"/>
            <c:invertIfNegative val="0"/>
            <c:bubble3D val="0"/>
            <c:spPr>
              <a:solidFill>
                <a:srgbClr val="1B99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654-48D7-8D88-080B9BA5B243}"/>
              </c:ext>
            </c:extLst>
          </c:dPt>
          <c:dPt>
            <c:idx val="5"/>
            <c:invertIfNegative val="0"/>
            <c:bubble3D val="0"/>
            <c:spPr>
              <a:solidFill>
                <a:srgbClr val="1B99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654-48D7-8D88-080B9BA5B243}"/>
              </c:ext>
            </c:extLst>
          </c:dPt>
          <c:dPt>
            <c:idx val="6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654-48D7-8D88-080B9BA5B243}"/>
              </c:ext>
            </c:extLst>
          </c:dPt>
          <c:dPt>
            <c:idx val="7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654-48D7-8D88-080B9BA5B243}"/>
              </c:ext>
            </c:extLst>
          </c:dPt>
          <c:dPt>
            <c:idx val="8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654-48D7-8D88-080B9BA5B243}"/>
              </c:ext>
            </c:extLst>
          </c:dPt>
          <c:dPt>
            <c:idx val="9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B654-48D7-8D88-080B9BA5B24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Supersport
Live Events</c:v>
                </c:pt>
                <c:pt idx="1">
                  <c:v>ICC Cricket
World Cup</c:v>
                </c:pt>
                <c:pt idx="2">
                  <c:v>Channel O</c:v>
                </c:pt>
                <c:pt idx="3">
                  <c:v>Trace TV</c:v>
                </c:pt>
                <c:pt idx="4">
                  <c:v>SuperSport
Blitz</c:v>
                </c:pt>
                <c:pt idx="5">
                  <c:v>Africa
Magic</c:v>
                </c:pt>
                <c:pt idx="6">
                  <c:v>Cartoon
Network</c:v>
                </c:pt>
                <c:pt idx="7">
                  <c:v>Boomerang</c:v>
                </c:pt>
                <c:pt idx="8">
                  <c:v>CNN</c:v>
                </c:pt>
                <c:pt idx="9">
                  <c:v>E! Entertainment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1638</c:v>
                </c:pt>
                <c:pt idx="1">
                  <c:v>1465</c:v>
                </c:pt>
                <c:pt idx="2">
                  <c:v>1050</c:v>
                </c:pt>
                <c:pt idx="3">
                  <c:v>952</c:v>
                </c:pt>
                <c:pt idx="4">
                  <c:v>896</c:v>
                </c:pt>
                <c:pt idx="5">
                  <c:v>859</c:v>
                </c:pt>
                <c:pt idx="6">
                  <c:v>793</c:v>
                </c:pt>
                <c:pt idx="7">
                  <c:v>714</c:v>
                </c:pt>
                <c:pt idx="8">
                  <c:v>505</c:v>
                </c:pt>
                <c:pt idx="9">
                  <c:v>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654-48D7-8D88-080B9BA5B2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Sessions by 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C94-4B12-AA13-56C901AE757C}"/>
              </c:ext>
            </c:extLst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C94-4B12-AA13-56C901AE757C}"/>
              </c:ext>
            </c:extLst>
          </c:dPt>
          <c:dPt>
            <c:idx val="2"/>
            <c:invertIfNegative val="0"/>
            <c:bubble3D val="0"/>
            <c:spPr>
              <a:solidFill>
                <a:srgbClr val="1B99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C94-4B12-AA13-56C901AE757C}"/>
              </c:ext>
            </c:extLst>
          </c:dPt>
          <c:dPt>
            <c:idx val="3"/>
            <c:invertIfNegative val="0"/>
            <c:bubble3D val="0"/>
            <c:spPr>
              <a:solidFill>
                <a:srgbClr val="FF6B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C94-4B12-AA13-56C901AE757C}"/>
              </c:ext>
            </c:extLst>
          </c:dPt>
          <c:dPt>
            <c:idx val="4"/>
            <c:invertIfNegative val="0"/>
            <c:bubble3D val="0"/>
            <c:spPr>
              <a:solidFill>
                <a:srgbClr val="3341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C94-4B12-AA13-56C901AE757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&lt;18</c:v>
                </c:pt>
                <c:pt idx="1">
                  <c:v>18–25</c:v>
                </c:pt>
                <c:pt idx="2">
                  <c:v>26–35</c:v>
                </c:pt>
                <c:pt idx="3">
                  <c:v>36–50</c:v>
                </c:pt>
                <c:pt idx="4">
                  <c:v>50+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417</c:v>
                </c:pt>
                <c:pt idx="1">
                  <c:v>1733</c:v>
                </c:pt>
                <c:pt idx="2">
                  <c:v>4118</c:v>
                </c:pt>
                <c:pt idx="3">
                  <c:v>2972</c:v>
                </c:pt>
                <c:pt idx="4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C94-4B12-AA13-56C901AE75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4759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Analytics &amp; Growth Strategy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2697480"/>
            <a:ext cx="4572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 Management | Q1 2016 Analysis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840480"/>
            <a:ext cx="1920240" cy="914400"/>
          </a:xfrm>
          <a:prstGeom prst="rect">
            <a:avLst/>
          </a:prstGeom>
          <a:solidFill>
            <a:srgbClr val="1322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38587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43159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Analysed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3840480"/>
            <a:ext cx="1920240" cy="914400"/>
          </a:xfrm>
          <a:prstGeom prst="rect">
            <a:avLst/>
          </a:prstGeom>
          <a:solidFill>
            <a:srgbClr val="1322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38587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4,386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51760" y="43159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3840480"/>
            <a:ext cx="1920240" cy="914400"/>
          </a:xfrm>
          <a:prstGeom prst="rect">
            <a:avLst/>
          </a:prstGeom>
          <a:solidFill>
            <a:srgbClr val="1322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38587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00600" y="43159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Tracked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3840480"/>
            <a:ext cx="1920240" cy="914400"/>
          </a:xfrm>
          <a:prstGeom prst="rect">
            <a:avLst/>
          </a:prstGeom>
          <a:solidFill>
            <a:srgbClr val="1322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385876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min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49440" y="43159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070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2070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Usage Trends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4356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watching, when, and for how long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938528"/>
            <a:ext cx="502920" cy="5029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5681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19568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Influencing Consumption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1854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time, device &amp; content drivers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32888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688336"/>
            <a:ext cx="502920" cy="5029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0662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27066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Low-Day Content Recommendations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29352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to boost Monday viewership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82696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438144"/>
            <a:ext cx="502920" cy="5029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45643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34564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Initiatives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36850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acquisition &amp; retention playbook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032504"/>
            <a:ext cx="8229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187952"/>
            <a:ext cx="502920" cy="5029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062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4206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Summary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43000" y="4434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action plan for CVM team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0" y="1051560"/>
            <a:ext cx="3200400" cy="37490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📊</a:t>
            </a:r>
            <a:endParaRPr lang="en-US" sz="7200" dirty="0"/>
          </a:p>
        </p:txBody>
      </p:sp>
      <p:sp>
        <p:nvSpPr>
          <p:cNvPr id="30" name="Text 28"/>
          <p:cNvSpPr/>
          <p:nvPr/>
        </p:nvSpPr>
        <p:spPr>
          <a:xfrm>
            <a:off x="566928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Apr 2016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69280" y="29260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Dataset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69280" y="3657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 converted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(UTC+2)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Snapshot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BrightTV subscriber?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965960" cy="9144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61872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5,375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7556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1234440"/>
            <a:ext cx="1965960" cy="914400"/>
          </a:xfrm>
          <a:prstGeom prst="rect">
            <a:avLst/>
          </a:prstGeom>
          <a:solidFill>
            <a:srgbClr val="1B998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261872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23160" y="17556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234440"/>
            <a:ext cx="1965960" cy="9144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261872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17556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1234440"/>
            <a:ext cx="1965960" cy="9144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261872"/>
            <a:ext cx="1965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20840" y="17556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Users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274320" y="2331720"/>
          <a:ext cx="4114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"/>
          <p:cNvGraphicFramePr/>
          <p:nvPr/>
        </p:nvGraphicFramePr>
        <p:xfrm>
          <a:off x="4572000" y="2331720"/>
          <a:ext cx="43891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Trends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and average duration by day of week (SAST)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18872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188720"/>
            <a:ext cx="3108960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1188720"/>
            <a:ext cx="73152" cy="10972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0" y="12618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Lowest Day: Monday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0" y="157276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957 sessions — 43% fewer than Friday. Key opportunity for growth.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0" y="2423160"/>
            <a:ext cx="3108960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2423160"/>
            <a:ext cx="73152" cy="109728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24963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Peak: Fri &amp; Sat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0" y="28072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1,675 and 1,633 sessions. Fri evening + Sat sports dominate.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60720" y="3657600"/>
            <a:ext cx="3108960" cy="10972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3657600"/>
            <a:ext cx="73152" cy="10972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0" y="37307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Sat = Longest Sessions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0" y="404164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10.9 min on Saturday vs 7.2 min on Monday.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Subscribers Watch?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session distribution — SAST (UTC+2)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97280"/>
          <a:ext cx="85953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251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" y="44805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0–5h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011680" y="4251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011680" y="44805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6–11h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931920" y="4251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31920" y="44805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12–16h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52160" y="4251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52160" y="44805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17–20h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589520" y="4251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Night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89520" y="44805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21–23h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solidFill>
            <a:srgbClr val="E6FAF7"/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" y="4773168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Peak hours 12h–20h account for ~50% of all daily sessions. Primetime starts at 10h and peaks at 17h (648 sessions)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channels by total sessions (Jan–Apr 2016)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97280"/>
          <a:ext cx="56692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097280"/>
            <a:ext cx="2743200" cy="37490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2648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Mix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17920" y="1645920"/>
            <a:ext cx="91440" cy="43891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0" y="16550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Sports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186537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| SuperSport + Cricket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17920" y="2267712"/>
            <a:ext cx="91440" cy="43891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22768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Music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0" y="2487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| Channel O + Trace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7920" y="2889504"/>
            <a:ext cx="91440" cy="43891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28986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African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0" y="3108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 | Africa Magic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3511296"/>
            <a:ext cx="9144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0" y="35204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👶 Kids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0" y="37307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| Cartoon + Boomerang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17920" y="4133088"/>
            <a:ext cx="91440" cy="43891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0" y="41422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News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0" y="43525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| CNN + Others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Influencing Consumption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788920" cy="1783080"/>
          </a:xfrm>
          <a:prstGeom prst="rect">
            <a:avLst/>
          </a:prstGeom>
          <a:solidFill>
            <a:srgbClr val="1322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005840"/>
            <a:ext cx="2788920" cy="64008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143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Demographics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536192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 drive 87% of sessions. Age 26–35 has highest engagement (avg 9.7 min/session). Under-18s are underrepresented.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788920" cy="1783080"/>
          </a:xfrm>
          <a:prstGeom prst="rect">
            <a:avLst/>
          </a:prstGeom>
          <a:solidFill>
            <a:srgbClr val="1322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1005840"/>
            <a:ext cx="278892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143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Geography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536192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 contributes 32% of users. Urban provinces (Gauteng, WCape) are most active. Rural provinces underserved.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005840"/>
            <a:ext cx="2788920" cy="1783080"/>
          </a:xfrm>
          <a:prstGeom prst="rect">
            <a:avLst/>
          </a:prstGeom>
          <a:solidFill>
            <a:srgbClr val="1322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005840"/>
            <a:ext cx="278892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143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Time of Day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1536192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peak 10h–20h SAST. Lunch (12–14h) and early evening (17–19h) are highest-traffic windows.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2788920" cy="1783080"/>
          </a:xfrm>
          <a:prstGeom prst="rect">
            <a:avLst/>
          </a:prstGeom>
          <a:solidFill>
            <a:srgbClr val="1322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71800"/>
            <a:ext cx="2788920" cy="6400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108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 Content Type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3502152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content drives 40% of sessions. Live events create urgency and high repeat viewership.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2971800"/>
            <a:ext cx="2788920" cy="1783080"/>
          </a:xfrm>
          <a:prstGeom prst="rect">
            <a:avLst/>
          </a:prstGeom>
          <a:solidFill>
            <a:srgbClr val="1322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2971800"/>
            <a:ext cx="278892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3108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Day of Week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3280" y="3502152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&amp; Saturday peak. Monday is the weakest day — likely due to work/school routines.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971800"/>
            <a:ext cx="2788920" cy="1783080"/>
          </a:xfrm>
          <a:prstGeom prst="rect">
            <a:avLst/>
          </a:prstGeom>
          <a:solidFill>
            <a:srgbClr val="13223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2971800"/>
            <a:ext cx="278892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3108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Audience Activation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3502152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 of registered users are dormant. Inactive subscribers present an immediate re-engagement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Deep Dive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patterns across age, gender and audience segments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97280"/>
          <a:ext cx="47548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097280"/>
            <a:ext cx="3566160" cy="347472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30352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by Gender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94960" y="1691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♂ MALE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94960" y="19933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SuperSport Live Events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394960" y="226771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ICC Cricket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394960" y="25420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Channel 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94960" y="28163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Trace TV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94960" y="30906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SuperSport Blitz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94960" y="3429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♀ FEMALE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94960" y="373075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Africa Magic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94960" y="394106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Trace TV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394960" y="415137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Cartoon Network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394960" y="436168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Channel O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394960" y="457200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Boomerang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Low-Day Consumption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has 43% fewer sessions than Friday — targeted content can close this gap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65760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Monday: 957 sessions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0" y="1188720"/>
            <a:ext cx="4754880" cy="4572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1188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Friday: 1,675 sessions  (+75% opportunity)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160520" cy="13716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20240"/>
            <a:ext cx="4160520" cy="5486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1993392"/>
            <a:ext cx="704088" cy="256032"/>
          </a:xfrm>
          <a:prstGeom prst="rect">
            <a:avLst/>
          </a:prstGeom>
          <a:solidFill>
            <a:srgbClr val="E6FAF7"/>
          </a:solidFill>
          <a:ln/>
        </p:spPr>
      </p:sp>
      <p:sp>
        <p:nvSpPr>
          <p:cNvPr id="11" name="Text 9"/>
          <p:cNvSpPr/>
          <p:nvPr/>
        </p:nvSpPr>
        <p:spPr>
          <a:xfrm>
            <a:off x="3675888" y="2011680"/>
            <a:ext cx="667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11480" y="20299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Exclusive Monday Content Drops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377440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new episodes, series premieres, or exclusive sports highlights every Monday. Scarcity and novelty drive urgency to tune in.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1920240"/>
            <a:ext cx="4160520" cy="13716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920240"/>
            <a:ext cx="4160520" cy="5486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6" name="Shape 14"/>
          <p:cNvSpPr/>
          <p:nvPr/>
        </p:nvSpPr>
        <p:spPr>
          <a:xfrm>
            <a:off x="8092440" y="1993392"/>
            <a:ext cx="704088" cy="256032"/>
          </a:xfrm>
          <a:prstGeom prst="rect">
            <a:avLst/>
          </a:prstGeom>
          <a:solidFill>
            <a:srgbClr val="E6FAF7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28" y="2011680"/>
            <a:ext cx="667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Expansion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846320" y="20299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Wellness &amp; Lifestyle Programming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377440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Mondays resonate with new-week motivation. Add fitness, cooking, and lifestyle content to appeal to underrepresented female audience (only 12% of sessions).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429000"/>
            <a:ext cx="4160520" cy="13716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429000"/>
            <a:ext cx="4160520" cy="5486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0" y="3502152"/>
            <a:ext cx="704088" cy="256032"/>
          </a:xfrm>
          <a:prstGeom prst="rect">
            <a:avLst/>
          </a:prstGeom>
          <a:solidFill>
            <a:srgbClr val="E6FAF7"/>
          </a:solidFill>
          <a:ln/>
        </p:spPr>
      </p:sp>
      <p:sp>
        <p:nvSpPr>
          <p:cNvPr id="23" name="Text 21"/>
          <p:cNvSpPr/>
          <p:nvPr/>
        </p:nvSpPr>
        <p:spPr>
          <a:xfrm>
            <a:off x="3675888" y="3520440"/>
            <a:ext cx="667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11480" y="35387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Interactive &amp; Fan Engagement Shows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886200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shows, polls, trivia nights tied to popular sports/music. Engage Channel O and Trace TV fans with participatory viewing experiences.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3429000"/>
            <a:ext cx="4160520" cy="13716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429000"/>
            <a:ext cx="4160520" cy="5486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8" name="Shape 26"/>
          <p:cNvSpPr/>
          <p:nvPr/>
        </p:nvSpPr>
        <p:spPr>
          <a:xfrm>
            <a:off x="8092440" y="3502152"/>
            <a:ext cx="704088" cy="256032"/>
          </a:xfrm>
          <a:prstGeom prst="rect">
            <a:avLst/>
          </a:prstGeom>
          <a:solidFill>
            <a:srgbClr val="E6FAF7"/>
          </a:solidFill>
          <a:ln/>
        </p:spPr>
      </p:sp>
      <p:sp>
        <p:nvSpPr>
          <p:cNvPr id="29" name="Text 27"/>
          <p:cNvSpPr/>
          <p:nvPr/>
        </p:nvSpPr>
        <p:spPr>
          <a:xfrm>
            <a:off x="8110728" y="3520440"/>
            <a:ext cx="6675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Reactivation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846320" y="35387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Monday Push Notifications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3886200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989 dormant subscribers with personalised content alerts. 'Your favourite show is on tonight' campaigns reduce churn and re-activate lapsed users.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Initiatives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four-pillar strategy to grow BrightTV's subscriber 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2011680" cy="3611880"/>
          </a:xfrm>
          <a:prstGeom prst="rect">
            <a:avLst/>
          </a:prstGeom>
          <a:solidFill>
            <a:srgbClr val="0D162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234440"/>
            <a:ext cx="2011680" cy="5486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371600"/>
            <a:ext cx="411480" cy="41148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8988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Reactivate Dormant Users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989 registered users never streamed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re-engagement email campaigns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3474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first 30-day premium content access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3977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by interest from profile 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41448" y="1234440"/>
            <a:ext cx="2011680" cy="3611880"/>
          </a:xfrm>
          <a:prstGeom prst="rect">
            <a:avLst/>
          </a:prstGeom>
          <a:solidFill>
            <a:srgbClr val="0D162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41448" y="1234440"/>
            <a:ext cx="201168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Shape 13"/>
          <p:cNvSpPr/>
          <p:nvPr/>
        </p:nvSpPr>
        <p:spPr>
          <a:xfrm>
            <a:off x="2532888" y="1371600"/>
            <a:ext cx="411480" cy="411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2532888" y="138988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32888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Female Subscribers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32888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12% of sessions are female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32888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telenovelas, lifestyle &amp; reality TV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32888" y="3474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female influencers on social media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32888" y="3977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media-driven watch parties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54296" y="1234440"/>
            <a:ext cx="2011680" cy="3611880"/>
          </a:xfrm>
          <a:prstGeom prst="rect">
            <a:avLst/>
          </a:prstGeom>
          <a:solidFill>
            <a:srgbClr val="0D162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54296" y="1234440"/>
            <a:ext cx="20116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Shape 22"/>
          <p:cNvSpPr/>
          <p:nvPr/>
        </p:nvSpPr>
        <p:spPr>
          <a:xfrm>
            <a:off x="4745736" y="1371600"/>
            <a:ext cx="41148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745736" y="138988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45736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Youth Audience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45736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U18 is underrepresented (4% of sessions)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45736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Esports, anime, and youth drama content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45736" y="3474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Student/family bundle pricing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45736" y="3977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content for mobile-first generation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67144" y="1234440"/>
            <a:ext cx="2011680" cy="3611880"/>
          </a:xfrm>
          <a:prstGeom prst="rect">
            <a:avLst/>
          </a:prstGeom>
          <a:solidFill>
            <a:srgbClr val="0D1622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67144" y="1234440"/>
            <a:ext cx="201168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3" name="Shape 31"/>
          <p:cNvSpPr/>
          <p:nvPr/>
        </p:nvSpPr>
        <p:spPr>
          <a:xfrm>
            <a:off x="6958584" y="1371600"/>
            <a:ext cx="411480" cy="4114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4" name="Text 32"/>
          <p:cNvSpPr/>
          <p:nvPr/>
        </p:nvSpPr>
        <p:spPr>
          <a:xfrm>
            <a:off x="6958584" y="138988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958584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Provincial Growth Push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58584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Cape, Limpopo under-penetrated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58584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Localised content in indigenous languages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58584" y="3474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partnerships for data-zero streaming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58584" y="3977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sports leagues &amp; local events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Insights &amp; Opportunities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60520" cy="187452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14400"/>
            <a:ext cx="73152" cy="187452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Social Media Integration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of users have social media handles. BrightTV can leverage this for social-sharing features, second-screen experiences, and viral content campaigns tied to live sports events.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4160520" cy="187452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914400"/>
            <a:ext cx="73152" cy="18745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🏏  Cricket &amp; Live Sport = Tent-Pole Events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44752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 drives 14.6% of all sessions. Building marketing campaigns around live fixtures — especially midweek — could lift weekday consumption significantly.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971800"/>
            <a:ext cx="4160520" cy="187452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971800"/>
            <a:ext cx="73152" cy="1874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Language &amp; Localisation Gap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502152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Limpopo (Venda/Tsonga), KZN (Zulu), Eastern Cape (Xhosa) are under-served. Introducing local-language content could unlock millions of potential subscribers.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2971800"/>
            <a:ext cx="4160520" cy="187452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971800"/>
            <a:ext cx="73152" cy="18745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Data-Driven Personalisation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502152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rich viewing history data, BrightTV can build recommendation engines to increase session frequency, reduce churn, and surface niche content to engaged micro-audiences.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action plan for the CVM team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64008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6128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05840" y="1143000"/>
            <a:ext cx="347472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612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143000"/>
            <a:ext cx="201168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1612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143000"/>
            <a:ext cx="228600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1612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554480"/>
            <a:ext cx="640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1554480"/>
            <a:ext cx="3474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1554480"/>
            <a:ext cx="20116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1554480"/>
            <a:ext cx="22860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1591056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51560" y="159105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Reactivate 989 dormant users via personalised email/push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26280" y="159105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Base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37960" y="159105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+15–20% active subs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121408"/>
            <a:ext cx="640080" cy="5486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5840" y="2121408"/>
            <a:ext cx="3474720" cy="5486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2" name="Shape 20"/>
          <p:cNvSpPr/>
          <p:nvPr/>
        </p:nvSpPr>
        <p:spPr>
          <a:xfrm>
            <a:off x="4480560" y="2121408"/>
            <a:ext cx="2011680" cy="5486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6492240" y="2121408"/>
            <a:ext cx="2286000" cy="5486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157984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51560" y="215798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exclusive content — series drops &amp; sports recaps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26280" y="215798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Subscribers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37960" y="2157984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+30–40% Mon sessions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688336"/>
            <a:ext cx="640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5840" y="2688336"/>
            <a:ext cx="3474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480560" y="2688336"/>
            <a:ext cx="20116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492240" y="2688336"/>
            <a:ext cx="22860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2724912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3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51560" y="272491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audience content (telenovelas, lifestyle, reality)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26280" y="272491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Segment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37960" y="2724912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female viewership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3255264"/>
            <a:ext cx="640080" cy="5486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7" name="Shape 35"/>
          <p:cNvSpPr/>
          <p:nvPr/>
        </p:nvSpPr>
        <p:spPr>
          <a:xfrm>
            <a:off x="1005840" y="3255264"/>
            <a:ext cx="3474720" cy="5486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8" name="Shape 36"/>
          <p:cNvSpPr/>
          <p:nvPr/>
        </p:nvSpPr>
        <p:spPr>
          <a:xfrm>
            <a:off x="4480560" y="3255264"/>
            <a:ext cx="2011680" cy="5486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9" name="Shape 37"/>
          <p:cNvSpPr/>
          <p:nvPr/>
        </p:nvSpPr>
        <p:spPr>
          <a:xfrm>
            <a:off x="6492240" y="3255264"/>
            <a:ext cx="2286000" cy="5486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329184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4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51560" y="329184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&amp; U18 content + student pricing bundles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26280" y="32918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Under-25 segment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537960" y="329184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 youth subs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3822192"/>
            <a:ext cx="6400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1005840" y="3822192"/>
            <a:ext cx="3474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4480560" y="3822192"/>
            <a:ext cx="20116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6492240" y="3822192"/>
            <a:ext cx="22860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320040" y="3858768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5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051560" y="385876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Provincial expansion — local language content &amp; telco deals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26280" y="38587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Under-penetrated Provinces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537960" y="385876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 new registrations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4389120"/>
            <a:ext cx="640080" cy="5486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3" name="Shape 51"/>
          <p:cNvSpPr/>
          <p:nvPr/>
        </p:nvSpPr>
        <p:spPr>
          <a:xfrm>
            <a:off x="1005840" y="4389120"/>
            <a:ext cx="3474720" cy="5486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4" name="Shape 52"/>
          <p:cNvSpPr/>
          <p:nvPr/>
        </p:nvSpPr>
        <p:spPr>
          <a:xfrm>
            <a:off x="4480560" y="4389120"/>
            <a:ext cx="2011680" cy="5486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5" name="Shape 53"/>
          <p:cNvSpPr/>
          <p:nvPr/>
        </p:nvSpPr>
        <p:spPr>
          <a:xfrm>
            <a:off x="6492240" y="4389120"/>
            <a:ext cx="2286000" cy="54864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6" name="Text 54"/>
          <p:cNvSpPr/>
          <p:nvPr/>
        </p:nvSpPr>
        <p:spPr>
          <a:xfrm>
            <a:off x="320040" y="4425696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6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051560" y="442569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sharing &amp; second-screen features for live events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526280" y="442569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Audience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537960" y="4425696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 session frequency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| Customer Value Management Presentation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560320"/>
            <a:ext cx="45720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743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12724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has a strong, engaged core audience. With targeted re-engagement, diversified content strategy, and provincial expansion — the subscriber growth target is within reach.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4114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4572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opportunity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51760" y="4114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4572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gap vs Friday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00600" y="4114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00600" y="4572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share (untapped)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49440" y="41148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49440" y="4572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content dominance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1100</Words>
  <Application>Microsoft Office PowerPoint</Application>
  <PresentationFormat>On-screen Show (16:9)</PresentationFormat>
  <Paragraphs>221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Viewership Analytics</dc:title>
  <dc:subject>PptxGenJS Presentation</dc:subject>
  <dc:creator>PptxGenJS</dc:creator>
  <cp:lastModifiedBy>LENOVO</cp:lastModifiedBy>
  <cp:revision>2</cp:revision>
  <dcterms:created xsi:type="dcterms:W3CDTF">2026-04-29T20:34:54Z</dcterms:created>
  <dcterms:modified xsi:type="dcterms:W3CDTF">2026-04-29T20:39:39Z</dcterms:modified>
</cp:coreProperties>
</file>